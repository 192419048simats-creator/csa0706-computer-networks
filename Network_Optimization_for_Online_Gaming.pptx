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4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463040"/>
            <a:ext cx="5029200" cy="5029200"/>
          </a:xfrm>
          <a:prstGeom prst="ellipse">
            <a:avLst/>
          </a:prstGeom>
          <a:solidFill>
            <a:srgbClr val="1B1E3A"/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4754880"/>
            <a:ext cx="3840480" cy="3840480"/>
          </a:xfrm>
          <a:prstGeom prst="ellipse">
            <a:avLst/>
          </a:prstGeom>
          <a:solidFill>
            <a:srgbClr val="1B1E3A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554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5F2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ENGINEERING  •  ESPORTS PERFORMANCE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" y="1965960"/>
            <a:ext cx="987552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Would You Optimize a</a:t>
            </a:r>
            <a:endParaRPr lang="en-US" sz="40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Network for Online Gaming?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22960" y="406908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C7C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practical look at latency, bandwidth, hardware, and configuration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C7C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choices that keep competitive play smooth and lag-free.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22960" y="5532120"/>
            <a:ext cx="5120640" cy="960120"/>
          </a:xfrm>
          <a:prstGeom prst="roundRect">
            <a:avLst>
              <a:gd name="adj" fmla="val 8571"/>
            </a:avLst>
          </a:prstGeom>
          <a:solidFill>
            <a:srgbClr val="1B1E3A"/>
          </a:solidFill>
          <a:ln w="12700">
            <a:solidFill>
              <a:srgbClr val="2C2F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51560" y="5632704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S. KARTHIKEYAN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51560" y="6016752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5F2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Reg. No: 192419048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B6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E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Network Optimization Matters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59436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450" dirty="0">
                <a:solidFill>
                  <a:srgbClr val="1B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online gaming, the network sits between a player's input and the game server's response. Even small delays or drops in that path show up directly as rubber-banding, missed shots, and desync — regardless of how powerful the gaming PC is.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548640" y="3063240"/>
            <a:ext cx="5943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450" i="1" dirty="0">
                <a:solidFill>
                  <a:srgbClr val="5B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 means treating the connection itself as part of the gaming rig — tuning it end to end, from the router in the room to the server region across the internet.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903720" y="1417320"/>
            <a:ext cx="470916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1E3A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178040" y="1554480"/>
            <a:ext cx="19202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7B61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 30 ms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9189720" y="1554480"/>
            <a:ext cx="22860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B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Ping considered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B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ideal for FPS titles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903720" y="2898648"/>
            <a:ext cx="470916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1E3A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178040" y="3035808"/>
            <a:ext cx="19202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7B61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3–5 Mbps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9189720" y="3035808"/>
            <a:ext cx="22860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B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Bandwidth typically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B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needed per game session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903720" y="4379976"/>
            <a:ext cx="470916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1E3A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178040" y="4517136"/>
            <a:ext cx="19202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7B61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 ms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9189720" y="4517136"/>
            <a:ext cx="22860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B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jitter for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B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stable, predictable play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B6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FACTOR 01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E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Reduce Latency (Ping)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698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1B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 is the round-trip time between a player's action and the server's acknowledgement. It is the single most noticeable factor in competitive, fast-paced games.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5349240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1B1E3A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04672" y="2587752"/>
            <a:ext cx="566928" cy="566928"/>
          </a:xfrm>
          <a:prstGeom prst="ellipse">
            <a:avLst/>
          </a:prstGeom>
          <a:solidFill>
            <a:srgbClr val="1B1E3A"/>
          </a:solidFill>
          <a:ln/>
        </p:spPr>
      </p:sp>
      <p:pic>
        <p:nvPicPr>
          <p:cNvPr id="7" name="Image 0" descr="/home/claude/ppt/icon_wif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688" y="2715768"/>
            <a:ext cx="310896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54480" y="2551176"/>
            <a:ext cx="4114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1E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Wired over wireless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804672" y="3227832"/>
            <a:ext cx="483717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B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Ethernet removes Wi-Fi contention and radio interference that add unpredictable delay.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172200" y="2331720"/>
            <a:ext cx="5349240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1B1E3A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428232" y="2587752"/>
            <a:ext cx="566928" cy="566928"/>
          </a:xfrm>
          <a:prstGeom prst="ellipse">
            <a:avLst/>
          </a:prstGeom>
          <a:solidFill>
            <a:srgbClr val="1B1E3A"/>
          </a:solidFill>
          <a:ln/>
        </p:spPr>
      </p:sp>
      <p:pic>
        <p:nvPicPr>
          <p:cNvPr id="12" name="Image 1" descr="/home/claude/ppt/icon_serv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6248" y="2715768"/>
            <a:ext cx="310896" cy="31089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178040" y="2551176"/>
            <a:ext cx="4114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1E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Nearest server region</a:t>
            </a:r>
            <a:endParaRPr lang="en-US" sz="1550" dirty="0"/>
          </a:p>
        </p:txBody>
      </p:sp>
      <p:sp>
        <p:nvSpPr>
          <p:cNvPr id="14" name="Text 10"/>
          <p:cNvSpPr/>
          <p:nvPr/>
        </p:nvSpPr>
        <p:spPr>
          <a:xfrm>
            <a:off x="6428232" y="3227832"/>
            <a:ext cx="483717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B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Choosing a geographically closer server region cuts the physical distance data must travel.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548640" y="4480560"/>
            <a:ext cx="5349240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1B1E3A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04672" y="4736592"/>
            <a:ext cx="566928" cy="566928"/>
          </a:xfrm>
          <a:prstGeom prst="ellipse">
            <a:avLst/>
          </a:prstGeom>
          <a:solidFill>
            <a:srgbClr val="1B1E3A"/>
          </a:solidFill>
          <a:ln/>
        </p:spPr>
      </p:sp>
      <p:pic>
        <p:nvPicPr>
          <p:cNvPr id="17" name="Image 2" descr="/home/claude/ppt/icon_qo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8" y="4864608"/>
            <a:ext cx="310896" cy="31089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554480" y="4700016"/>
            <a:ext cx="4114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1E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Traffic prioritization</a:t>
            </a:r>
            <a:endParaRPr lang="en-US" sz="1550" dirty="0"/>
          </a:p>
        </p:txBody>
      </p:sp>
      <p:sp>
        <p:nvSpPr>
          <p:cNvPr id="19" name="Text 14"/>
          <p:cNvSpPr/>
          <p:nvPr/>
        </p:nvSpPr>
        <p:spPr>
          <a:xfrm>
            <a:off x="804672" y="5376672"/>
            <a:ext cx="483717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B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QoS rules on the router keep game packets ahead of downloads and streaming traffic.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6172200" y="4480560"/>
            <a:ext cx="5349240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1B1E3A">
                <a:alpha val="10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6428232" y="4736592"/>
            <a:ext cx="566928" cy="566928"/>
          </a:xfrm>
          <a:prstGeom prst="ellipse">
            <a:avLst/>
          </a:prstGeom>
          <a:solidFill>
            <a:srgbClr val="1B1E3A"/>
          </a:solidFill>
          <a:ln/>
        </p:spPr>
      </p:sp>
      <p:pic>
        <p:nvPicPr>
          <p:cNvPr id="22" name="Image 3" descr="/home/claude/ppt/icon_setting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6248" y="4864608"/>
            <a:ext cx="310896" cy="310896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178040" y="4700016"/>
            <a:ext cx="4114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1E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Trim background load</a:t>
            </a:r>
            <a:endParaRPr lang="en-US" sz="1550" dirty="0"/>
          </a:p>
        </p:txBody>
      </p:sp>
      <p:sp>
        <p:nvSpPr>
          <p:cNvPr id="24" name="Text 18"/>
          <p:cNvSpPr/>
          <p:nvPr/>
        </p:nvSpPr>
        <p:spPr>
          <a:xfrm>
            <a:off x="6428232" y="5376672"/>
            <a:ext cx="483717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B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Closing bandwidth-heavy background apps prevents queuing delay on the same link.</a:t>
            </a:r>
            <a:endParaRPr lang="en-US" sz="1200" dirty="0"/>
          </a:p>
        </p:txBody>
      </p:sp>
      <p:sp>
        <p:nvSpPr>
          <p:cNvPr id="25" name="Text 19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B6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FACTOR 02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E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Manage Bandwidth Properly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1B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games need surprisingly little bandwidth to run smoothly — the real risk is other devices on the same network saturating the link during play.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548640" y="233172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FPS / MOBA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2679192"/>
            <a:ext cx="6400800" cy="310896"/>
          </a:xfrm>
          <a:prstGeom prst="roundRect">
            <a:avLst>
              <a:gd name="adj" fmla="val 17647"/>
            </a:avLst>
          </a:prstGeom>
          <a:solidFill>
            <a:srgbClr val="E3E5F2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2679192"/>
            <a:ext cx="1024128" cy="310896"/>
          </a:xfrm>
          <a:prstGeom prst="roundRect">
            <a:avLst>
              <a:gd name="adj" fmla="val 17647"/>
            </a:avLst>
          </a:prstGeom>
          <a:solidFill>
            <a:srgbClr val="05F2C2"/>
          </a:solidFill>
          <a:ln/>
        </p:spPr>
      </p:sp>
      <p:sp>
        <p:nvSpPr>
          <p:cNvPr id="8" name="Text 6"/>
          <p:cNvSpPr/>
          <p:nvPr/>
        </p:nvSpPr>
        <p:spPr>
          <a:xfrm>
            <a:off x="7086600" y="2642616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7B6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~3–5 Mbps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48640" y="329184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4K game streaming (viewer)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3639312"/>
            <a:ext cx="6400800" cy="310896"/>
          </a:xfrm>
          <a:prstGeom prst="roundRect">
            <a:avLst>
              <a:gd name="adj" fmla="val 17647"/>
            </a:avLst>
          </a:prstGeom>
          <a:solidFill>
            <a:srgbClr val="E3E5F2"/>
          </a:solidFill>
          <a:ln/>
        </p:spPr>
      </p:sp>
      <p:sp>
        <p:nvSpPr>
          <p:cNvPr id="11" name="Shape 9"/>
          <p:cNvSpPr/>
          <p:nvPr/>
        </p:nvSpPr>
        <p:spPr>
          <a:xfrm>
            <a:off x="548640" y="3639312"/>
            <a:ext cx="3840480" cy="310896"/>
          </a:xfrm>
          <a:prstGeom prst="roundRect">
            <a:avLst>
              <a:gd name="adj" fmla="val 17647"/>
            </a:avLst>
          </a:prstGeom>
          <a:solidFill>
            <a:srgbClr val="05F2C2"/>
          </a:solidFill>
          <a:ln/>
        </p:spPr>
      </p:sp>
      <p:sp>
        <p:nvSpPr>
          <p:cNvPr id="12" name="Text 10"/>
          <p:cNvSpPr/>
          <p:nvPr/>
        </p:nvSpPr>
        <p:spPr>
          <a:xfrm>
            <a:off x="7086600" y="3602736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7B6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~15–25 Mbps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48640" y="425196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game download / patch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4599432"/>
            <a:ext cx="6400800" cy="310896"/>
          </a:xfrm>
          <a:prstGeom prst="roundRect">
            <a:avLst>
              <a:gd name="adj" fmla="val 17647"/>
            </a:avLst>
          </a:prstGeom>
          <a:solidFill>
            <a:srgbClr val="E3E5F2"/>
          </a:solidFill>
          <a:ln/>
        </p:spPr>
      </p:sp>
      <p:sp>
        <p:nvSpPr>
          <p:cNvPr id="15" name="Shape 13"/>
          <p:cNvSpPr/>
          <p:nvPr/>
        </p:nvSpPr>
        <p:spPr>
          <a:xfrm>
            <a:off x="548640" y="4599432"/>
            <a:ext cx="6400800" cy="310896"/>
          </a:xfrm>
          <a:prstGeom prst="roundRect">
            <a:avLst>
              <a:gd name="adj" fmla="val 17647"/>
            </a:avLst>
          </a:prstGeom>
          <a:solidFill>
            <a:srgbClr val="05F2C2"/>
          </a:solidFill>
          <a:ln/>
        </p:spPr>
      </p:sp>
      <p:sp>
        <p:nvSpPr>
          <p:cNvPr id="16" name="Text 14"/>
          <p:cNvSpPr/>
          <p:nvPr/>
        </p:nvSpPr>
        <p:spPr>
          <a:xfrm>
            <a:off x="7086600" y="4562856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7B6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all available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8915400" y="2331720"/>
            <a:ext cx="2697480" cy="2880360"/>
          </a:xfrm>
          <a:prstGeom prst="roundRect">
            <a:avLst>
              <a:gd name="adj" fmla="val 3051"/>
            </a:avLst>
          </a:prstGeom>
          <a:solidFill>
            <a:srgbClr val="1B1E3A"/>
          </a:solidFill>
          <a:ln/>
        </p:spPr>
      </p:sp>
      <p:pic>
        <p:nvPicPr>
          <p:cNvPr id="18" name="Image 0" descr="/home/claude/ppt/icon_bandwidt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2560320"/>
            <a:ext cx="384048" cy="384048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9125712" y="30175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it stalls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9125712" y="3383280"/>
            <a:ext cx="23317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C7C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connections choke when uploads/downloads compete for the same limited pipe, causing spikes in ping rather than a drop in raw speed.</a:t>
            </a:r>
            <a:endParaRPr lang="en-US" sz="1150" dirty="0"/>
          </a:p>
        </p:txBody>
      </p:sp>
      <p:sp>
        <p:nvSpPr>
          <p:cNvPr id="21" name="Text 18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B6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FACTOR 03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E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Control Jitter &amp; Packet Loss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698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1B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with low average ping, an unstable connection causes visible stutter. Jitter is the variation in delay between packets; packet loss forces the game to resend or guess missing data.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5212080" cy="3520440"/>
          </a:xfrm>
          <a:prstGeom prst="roundRect">
            <a:avLst>
              <a:gd name="adj" fmla="val 233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1B1E3A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606040"/>
            <a:ext cx="566928" cy="566928"/>
          </a:xfrm>
          <a:prstGeom prst="ellipse">
            <a:avLst/>
          </a:prstGeom>
          <a:solidFill>
            <a:srgbClr val="7B61FF"/>
          </a:solidFill>
          <a:ln/>
        </p:spPr>
      </p:sp>
      <p:pic>
        <p:nvPicPr>
          <p:cNvPr id="7" name="Image 0" descr="/home/claude/ppt/icon_jit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0976" y="2734056"/>
            <a:ext cx="310896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54480" y="2606040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1E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Jitter</a:t>
            </a:r>
            <a:endParaRPr lang="en-US" sz="1900" dirty="0"/>
          </a:p>
        </p:txBody>
      </p:sp>
      <p:sp>
        <p:nvSpPr>
          <p:cNvPr id="9" name="Shape 6"/>
          <p:cNvSpPr/>
          <p:nvPr/>
        </p:nvSpPr>
        <p:spPr>
          <a:xfrm>
            <a:off x="868680" y="3465576"/>
            <a:ext cx="91440" cy="91440"/>
          </a:xfrm>
          <a:prstGeom prst="ellipse">
            <a:avLst/>
          </a:prstGeom>
          <a:solidFill>
            <a:srgbClr val="7B61FF"/>
          </a:solidFill>
          <a:ln/>
        </p:spPr>
      </p:sp>
      <p:sp>
        <p:nvSpPr>
          <p:cNvPr id="10" name="Text 7"/>
          <p:cNvSpPr/>
          <p:nvPr/>
        </p:nvSpPr>
        <p:spPr>
          <a:xfrm>
            <a:off x="1097280" y="3383280"/>
            <a:ext cx="4343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B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Caused by congested Wi-Fi channels or overloaded routers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868680" y="4151376"/>
            <a:ext cx="91440" cy="91440"/>
          </a:xfrm>
          <a:prstGeom prst="ellipse">
            <a:avLst/>
          </a:prstGeom>
          <a:solidFill>
            <a:srgbClr val="7B61FF"/>
          </a:solidFill>
          <a:ln/>
        </p:spPr>
      </p:sp>
      <p:sp>
        <p:nvSpPr>
          <p:cNvPr id="12" name="Text 9"/>
          <p:cNvSpPr/>
          <p:nvPr/>
        </p:nvSpPr>
        <p:spPr>
          <a:xfrm>
            <a:off x="1097280" y="4069080"/>
            <a:ext cx="4343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B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up as sudden rubber-banding after a smooth stretch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868680" y="4837176"/>
            <a:ext cx="91440" cy="91440"/>
          </a:xfrm>
          <a:prstGeom prst="ellipse">
            <a:avLst/>
          </a:prstGeom>
          <a:solidFill>
            <a:srgbClr val="7B61FF"/>
          </a:solidFill>
          <a:ln/>
        </p:spPr>
      </p:sp>
      <p:sp>
        <p:nvSpPr>
          <p:cNvPr id="14" name="Text 11"/>
          <p:cNvSpPr/>
          <p:nvPr/>
        </p:nvSpPr>
        <p:spPr>
          <a:xfrm>
            <a:off x="1097280" y="4754880"/>
            <a:ext cx="4343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B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with QoS, a wired link, and a stable channel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6309360" y="2331720"/>
            <a:ext cx="5212080" cy="3520440"/>
          </a:xfrm>
          <a:prstGeom prst="roundRect">
            <a:avLst>
              <a:gd name="adj" fmla="val 233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1B1E3A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583680" y="2606040"/>
            <a:ext cx="566928" cy="566928"/>
          </a:xfrm>
          <a:prstGeom prst="ellipse">
            <a:avLst/>
          </a:prstGeom>
          <a:solidFill>
            <a:srgbClr val="E0507A"/>
          </a:solidFill>
          <a:ln/>
        </p:spPr>
      </p:sp>
      <p:pic>
        <p:nvPicPr>
          <p:cNvPr id="17" name="Image 1" descr="/home/claude/ppt/icon_wifio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1696" y="2734056"/>
            <a:ext cx="310896" cy="310896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7315200" y="2606040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1E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Packet Loss</a:t>
            </a:r>
            <a:endParaRPr lang="en-US" sz="1900" dirty="0"/>
          </a:p>
        </p:txBody>
      </p:sp>
      <p:sp>
        <p:nvSpPr>
          <p:cNvPr id="19" name="Shape 15"/>
          <p:cNvSpPr/>
          <p:nvPr/>
        </p:nvSpPr>
        <p:spPr>
          <a:xfrm>
            <a:off x="6629400" y="3465576"/>
            <a:ext cx="91440" cy="91440"/>
          </a:xfrm>
          <a:prstGeom prst="ellipse">
            <a:avLst/>
          </a:prstGeom>
          <a:solidFill>
            <a:srgbClr val="E0507A"/>
          </a:solidFill>
          <a:ln/>
        </p:spPr>
      </p:sp>
      <p:sp>
        <p:nvSpPr>
          <p:cNvPr id="20" name="Text 16"/>
          <p:cNvSpPr/>
          <p:nvPr/>
        </p:nvSpPr>
        <p:spPr>
          <a:xfrm>
            <a:off x="6858000" y="3383280"/>
            <a:ext cx="4343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B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Often from damaged cables, weak Wi-Fi signal, or ISP congestion</a:t>
            </a:r>
            <a:endParaRPr lang="en-US" sz="1250" dirty="0"/>
          </a:p>
        </p:txBody>
      </p:sp>
      <p:sp>
        <p:nvSpPr>
          <p:cNvPr id="21" name="Shape 17"/>
          <p:cNvSpPr/>
          <p:nvPr/>
        </p:nvSpPr>
        <p:spPr>
          <a:xfrm>
            <a:off x="6629400" y="4151376"/>
            <a:ext cx="91440" cy="91440"/>
          </a:xfrm>
          <a:prstGeom prst="ellipse">
            <a:avLst/>
          </a:prstGeom>
          <a:solidFill>
            <a:srgbClr val="E0507A"/>
          </a:solidFill>
          <a:ln/>
        </p:spPr>
      </p:sp>
      <p:sp>
        <p:nvSpPr>
          <p:cNvPr id="22" name="Text 18"/>
          <p:cNvSpPr/>
          <p:nvPr/>
        </p:nvSpPr>
        <p:spPr>
          <a:xfrm>
            <a:off x="6858000" y="4069080"/>
            <a:ext cx="4343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B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Feels like input not registering or enemies teleporting</a:t>
            </a:r>
            <a:endParaRPr lang="en-US" sz="1250" dirty="0"/>
          </a:p>
        </p:txBody>
      </p:sp>
      <p:sp>
        <p:nvSpPr>
          <p:cNvPr id="23" name="Shape 19"/>
          <p:cNvSpPr/>
          <p:nvPr/>
        </p:nvSpPr>
        <p:spPr>
          <a:xfrm>
            <a:off x="6629400" y="4837176"/>
            <a:ext cx="91440" cy="91440"/>
          </a:xfrm>
          <a:prstGeom prst="ellipse">
            <a:avLst/>
          </a:prstGeom>
          <a:solidFill>
            <a:srgbClr val="E0507A"/>
          </a:solidFill>
          <a:ln/>
        </p:spPr>
      </p:sp>
      <p:sp>
        <p:nvSpPr>
          <p:cNvPr id="24" name="Text 20"/>
          <p:cNvSpPr/>
          <p:nvPr/>
        </p:nvSpPr>
        <p:spPr>
          <a:xfrm>
            <a:off x="6858000" y="4754880"/>
            <a:ext cx="4343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B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by fixing physical connections and updating firmware</a:t>
            </a:r>
            <a:endParaRPr lang="en-US" sz="1250" dirty="0"/>
          </a:p>
        </p:txBody>
      </p:sp>
      <p:sp>
        <p:nvSpPr>
          <p:cNvPr id="25" name="Text 21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B6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 STEP 01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E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Hardware &amp; Physical Setup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1E3A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508760"/>
            <a:ext cx="7315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8DA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1600200" y="1746504"/>
            <a:ext cx="566928" cy="566928"/>
          </a:xfrm>
          <a:prstGeom prst="ellipse">
            <a:avLst/>
          </a:prstGeom>
          <a:solidFill>
            <a:srgbClr val="1B1E3A"/>
          </a:solidFill>
          <a:ln/>
        </p:spPr>
      </p:sp>
      <p:pic>
        <p:nvPicPr>
          <p:cNvPr id="7" name="Image 0" descr="/home/claude/ppt/icon_hardwa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28216" y="1874520"/>
            <a:ext cx="310896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423160" y="1600200"/>
            <a:ext cx="3291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E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 a wired Ethernet connection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5806440" y="1600200"/>
            <a:ext cx="56235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B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cable to the router avoids Wi-Fi interference entirely — the single biggest upgrade for most home setups.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548640" y="2715768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1E3A">
                <a:alpha val="8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777240" y="2715768"/>
            <a:ext cx="7315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8DA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600" dirty="0"/>
          </a:p>
        </p:txBody>
      </p:sp>
      <p:sp>
        <p:nvSpPr>
          <p:cNvPr id="12" name="Shape 9"/>
          <p:cNvSpPr/>
          <p:nvPr/>
        </p:nvSpPr>
        <p:spPr>
          <a:xfrm>
            <a:off x="1600200" y="2953512"/>
            <a:ext cx="566928" cy="566928"/>
          </a:xfrm>
          <a:prstGeom prst="ellipse">
            <a:avLst/>
          </a:prstGeom>
          <a:solidFill>
            <a:srgbClr val="1B1E3A"/>
          </a:solidFill>
          <a:ln/>
        </p:spPr>
      </p:sp>
      <p:pic>
        <p:nvPicPr>
          <p:cNvPr id="13" name="Image 1" descr="/home/claude/ppt/icon_wifi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8216" y="3081528"/>
            <a:ext cx="310896" cy="31089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423160" y="2807208"/>
            <a:ext cx="3291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E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Position the router centrally</a:t>
            </a:r>
            <a:endParaRPr lang="en-US" sz="1450" dirty="0"/>
          </a:p>
        </p:txBody>
      </p:sp>
      <p:sp>
        <p:nvSpPr>
          <p:cNvPr id="15" name="Text 11"/>
          <p:cNvSpPr/>
          <p:nvPr/>
        </p:nvSpPr>
        <p:spPr>
          <a:xfrm>
            <a:off x="5806440" y="2807208"/>
            <a:ext cx="56235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B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Wi-Fi is unavoidable, place the router in an open, central spot away from walls, metal, and appliances.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548640" y="3922776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1E3A">
                <a:alpha val="8000"/>
              </a:srgbClr>
            </a:outerShdw>
          </a:effectLst>
        </p:spPr>
      </p:sp>
      <p:sp>
        <p:nvSpPr>
          <p:cNvPr id="17" name="Text 13"/>
          <p:cNvSpPr/>
          <p:nvPr/>
        </p:nvSpPr>
        <p:spPr>
          <a:xfrm>
            <a:off x="777240" y="3922776"/>
            <a:ext cx="7315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8DA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600" dirty="0"/>
          </a:p>
        </p:txBody>
      </p:sp>
      <p:sp>
        <p:nvSpPr>
          <p:cNvPr id="18" name="Shape 14"/>
          <p:cNvSpPr/>
          <p:nvPr/>
        </p:nvSpPr>
        <p:spPr>
          <a:xfrm>
            <a:off x="1600200" y="4160520"/>
            <a:ext cx="566928" cy="566928"/>
          </a:xfrm>
          <a:prstGeom prst="ellipse">
            <a:avLst/>
          </a:prstGeom>
          <a:solidFill>
            <a:srgbClr val="1B1E3A"/>
          </a:solidFill>
          <a:ln/>
        </p:spPr>
      </p:sp>
      <p:pic>
        <p:nvPicPr>
          <p:cNvPr id="19" name="Image 2" descr="/home/claude/ppt/icon_route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28216" y="4288536"/>
            <a:ext cx="310896" cy="310896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2423160" y="4014216"/>
            <a:ext cx="3291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E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Upgrade router &amp; firmware</a:t>
            </a:r>
            <a:endParaRPr lang="en-US" sz="1450" dirty="0"/>
          </a:p>
        </p:txBody>
      </p:sp>
      <p:sp>
        <p:nvSpPr>
          <p:cNvPr id="21" name="Text 16"/>
          <p:cNvSpPr/>
          <p:nvPr/>
        </p:nvSpPr>
        <p:spPr>
          <a:xfrm>
            <a:off x="5806440" y="4014216"/>
            <a:ext cx="56235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B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routers support better QoS and Wi-Fi standards; keep firmware updated for stability fixes.</a:t>
            </a:r>
            <a:endParaRPr lang="en-US" sz="1250" dirty="0"/>
          </a:p>
        </p:txBody>
      </p:sp>
      <p:sp>
        <p:nvSpPr>
          <p:cNvPr id="22" name="Shape 17"/>
          <p:cNvSpPr/>
          <p:nvPr/>
        </p:nvSpPr>
        <p:spPr>
          <a:xfrm>
            <a:off x="548640" y="5129784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1E3A">
                <a:alpha val="8000"/>
              </a:srgbClr>
            </a:outerShdw>
          </a:effectLst>
        </p:spPr>
      </p:sp>
      <p:sp>
        <p:nvSpPr>
          <p:cNvPr id="23" name="Text 18"/>
          <p:cNvSpPr/>
          <p:nvPr/>
        </p:nvSpPr>
        <p:spPr>
          <a:xfrm>
            <a:off x="777240" y="5129784"/>
            <a:ext cx="7315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8DA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600" dirty="0"/>
          </a:p>
        </p:txBody>
      </p:sp>
      <p:sp>
        <p:nvSpPr>
          <p:cNvPr id="24" name="Shape 19"/>
          <p:cNvSpPr/>
          <p:nvPr/>
        </p:nvSpPr>
        <p:spPr>
          <a:xfrm>
            <a:off x="1600200" y="5367528"/>
            <a:ext cx="566928" cy="566928"/>
          </a:xfrm>
          <a:prstGeom prst="ellipse">
            <a:avLst/>
          </a:prstGeom>
          <a:solidFill>
            <a:srgbClr val="1B1E3A"/>
          </a:solidFill>
          <a:ln/>
        </p:spPr>
      </p:sp>
      <p:pic>
        <p:nvPicPr>
          <p:cNvPr id="25" name="Image 3" descr="/home/claude/ppt/icon_setting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28216" y="5495544"/>
            <a:ext cx="310896" cy="310896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2423160" y="5221224"/>
            <a:ext cx="3291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E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 connected devices</a:t>
            </a:r>
            <a:endParaRPr lang="en-US" sz="1450" dirty="0"/>
          </a:p>
        </p:txBody>
      </p:sp>
      <p:sp>
        <p:nvSpPr>
          <p:cNvPr id="27" name="Text 21"/>
          <p:cNvSpPr/>
          <p:nvPr/>
        </p:nvSpPr>
        <p:spPr>
          <a:xfrm>
            <a:off x="5806440" y="5221224"/>
            <a:ext cx="56235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B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devices sharing the network during play means less contention for the same bandwidth.</a:t>
            </a:r>
            <a:endParaRPr lang="en-US" sz="1250" dirty="0"/>
          </a:p>
        </p:txBody>
      </p:sp>
      <p:sp>
        <p:nvSpPr>
          <p:cNvPr id="28" name="Text 22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B6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 STEP 02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E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Configure the Router (QoS)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6400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1B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of Service (QoS) lets a router decide which traffic gets priority when the connection is busy — keeping small, time-sensitive game packets moving ahead of large downloads.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606040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05F2C2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2551176"/>
            <a:ext cx="5943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B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QoS / Gaming Mode and prioritize the gaming device's IP or MAC address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3291840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05F2C2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3236976"/>
            <a:ext cx="5943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B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the correct WAN bandwidth values so QoS calculates priority accurately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3977640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05F2C2"/>
          </a:solidFill>
          <a:ln/>
        </p:spPr>
      </p:sp>
      <p:sp>
        <p:nvSpPr>
          <p:cNvPr id="10" name="Text 8"/>
          <p:cNvSpPr/>
          <p:nvPr/>
        </p:nvSpPr>
        <p:spPr>
          <a:xfrm>
            <a:off x="1005840" y="3922776"/>
            <a:ext cx="5943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B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Disable unnecessary UPnP or open only the ports the game requires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4663440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05F2C2"/>
          </a:solidFill>
          <a:ln/>
        </p:spPr>
      </p:sp>
      <p:sp>
        <p:nvSpPr>
          <p:cNvPr id="12" name="Text 10"/>
          <p:cNvSpPr/>
          <p:nvPr/>
        </p:nvSpPr>
        <p:spPr>
          <a:xfrm>
            <a:off x="1005840" y="4608576"/>
            <a:ext cx="5943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B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Reserve a static local IP for the gaming console or PC to keep rules consistent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406640" y="1417320"/>
            <a:ext cx="4206240" cy="4709160"/>
          </a:xfrm>
          <a:prstGeom prst="roundRect">
            <a:avLst>
              <a:gd name="adj" fmla="val 2174"/>
            </a:avLst>
          </a:prstGeom>
          <a:solidFill>
            <a:srgbClr val="1B1E3A"/>
          </a:solidFill>
          <a:ln/>
        </p:spPr>
      </p:sp>
      <p:sp>
        <p:nvSpPr>
          <p:cNvPr id="14" name="Text 12"/>
          <p:cNvSpPr/>
          <p:nvPr/>
        </p:nvSpPr>
        <p:spPr>
          <a:xfrm>
            <a:off x="7680960" y="16459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Traffic Priority Stack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7680960" y="2194560"/>
            <a:ext cx="3383280" cy="566928"/>
          </a:xfrm>
          <a:prstGeom prst="roundRect">
            <a:avLst>
              <a:gd name="adj" fmla="val 11290"/>
            </a:avLst>
          </a:prstGeom>
          <a:solidFill>
            <a:srgbClr val="05F2C2"/>
          </a:solidFill>
          <a:ln/>
        </p:spPr>
      </p:sp>
      <p:sp>
        <p:nvSpPr>
          <p:cNvPr id="16" name="Text 14"/>
          <p:cNvSpPr/>
          <p:nvPr/>
        </p:nvSpPr>
        <p:spPr>
          <a:xfrm>
            <a:off x="7818120" y="2194560"/>
            <a:ext cx="3108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Gaming Traffic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680960" y="2980944"/>
            <a:ext cx="3063240" cy="566928"/>
          </a:xfrm>
          <a:prstGeom prst="roundRect">
            <a:avLst>
              <a:gd name="adj" fmla="val 11290"/>
            </a:avLst>
          </a:prstGeom>
          <a:solidFill>
            <a:srgbClr val="7B61FF"/>
          </a:solidFill>
          <a:ln/>
        </p:spPr>
      </p:sp>
      <p:sp>
        <p:nvSpPr>
          <p:cNvPr id="18" name="Text 16"/>
          <p:cNvSpPr/>
          <p:nvPr/>
        </p:nvSpPr>
        <p:spPr>
          <a:xfrm>
            <a:off x="7818120" y="2980944"/>
            <a:ext cx="2788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2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/ Video Calls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680960" y="3767328"/>
            <a:ext cx="2743200" cy="566928"/>
          </a:xfrm>
          <a:prstGeom prst="roundRect">
            <a:avLst>
              <a:gd name="adj" fmla="val 11290"/>
            </a:avLst>
          </a:prstGeom>
          <a:solidFill>
            <a:srgbClr val="6E72A6"/>
          </a:solidFill>
          <a:ln/>
        </p:spPr>
      </p:sp>
      <p:sp>
        <p:nvSpPr>
          <p:cNvPr id="20" name="Text 18"/>
          <p:cNvSpPr/>
          <p:nvPr/>
        </p:nvSpPr>
        <p:spPr>
          <a:xfrm>
            <a:off x="7818120" y="3767328"/>
            <a:ext cx="2468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Browsing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680960" y="4553712"/>
            <a:ext cx="2423160" cy="566928"/>
          </a:xfrm>
          <a:prstGeom prst="roundRect">
            <a:avLst>
              <a:gd name="adj" fmla="val 11290"/>
            </a:avLst>
          </a:prstGeom>
          <a:solidFill>
            <a:srgbClr val="3E4166"/>
          </a:solidFill>
          <a:ln/>
        </p:spPr>
      </p:sp>
      <p:sp>
        <p:nvSpPr>
          <p:cNvPr id="22" name="Text 20"/>
          <p:cNvSpPr/>
          <p:nvPr/>
        </p:nvSpPr>
        <p:spPr>
          <a:xfrm>
            <a:off x="7818120" y="4553712"/>
            <a:ext cx="2148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Downloads &amp; Updates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680960" y="5431536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i="1" dirty="0">
                <a:solidFill>
                  <a:srgbClr val="9EA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priority reserved for real-time, low-tolerance traffic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B6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 STEP 03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E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DNS, Server &amp; Route Selection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349240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1B1E3A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673352"/>
            <a:ext cx="566928" cy="566928"/>
          </a:xfrm>
          <a:prstGeom prst="ellipse">
            <a:avLst/>
          </a:prstGeom>
          <a:solidFill>
            <a:srgbClr val="1B1E3A"/>
          </a:solidFill>
          <a:ln/>
        </p:spPr>
      </p:sp>
      <p:pic>
        <p:nvPicPr>
          <p:cNvPr id="6" name="Image 0" descr="/home/claude/ppt/icon_dn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688" y="1801368"/>
            <a:ext cx="310896" cy="31089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1636776"/>
            <a:ext cx="4114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1E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Switch to a fast DNS resolver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804672" y="2313432"/>
            <a:ext cx="483717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B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responsive DNS service speeds up the initial connection and matchmaking lookups.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172200" y="1417320"/>
            <a:ext cx="5349240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1B1E3A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428232" y="1673352"/>
            <a:ext cx="566928" cy="566928"/>
          </a:xfrm>
          <a:prstGeom prst="ellipse">
            <a:avLst/>
          </a:prstGeom>
          <a:solidFill>
            <a:srgbClr val="1B1E3A"/>
          </a:solidFill>
          <a:ln/>
        </p:spPr>
      </p:sp>
      <p:pic>
        <p:nvPicPr>
          <p:cNvPr id="11" name="Image 1" descr="/home/claude/ppt/icon_serv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6248" y="1801368"/>
            <a:ext cx="310896" cy="31089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178040" y="1636776"/>
            <a:ext cx="4114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1E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Manually select server region</a:t>
            </a:r>
            <a:endParaRPr lang="en-US" sz="1550" dirty="0"/>
          </a:p>
        </p:txBody>
      </p:sp>
      <p:sp>
        <p:nvSpPr>
          <p:cNvPr id="13" name="Text 9"/>
          <p:cNvSpPr/>
          <p:nvPr/>
        </p:nvSpPr>
        <p:spPr>
          <a:xfrm>
            <a:off x="6428232" y="2313432"/>
            <a:ext cx="483717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B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game allows it, pick the closest data center instead of relying on auto-selection.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548640" y="3566160"/>
            <a:ext cx="5349240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1B1E3A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04672" y="3822192"/>
            <a:ext cx="566928" cy="566928"/>
          </a:xfrm>
          <a:prstGeom prst="ellipse">
            <a:avLst/>
          </a:prstGeom>
          <a:solidFill>
            <a:srgbClr val="1B1E3A"/>
          </a:solidFill>
          <a:ln/>
        </p:spPr>
      </p:sp>
      <p:pic>
        <p:nvPicPr>
          <p:cNvPr id="16" name="Image 2" descr="/home/claude/ppt/icon_setting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8" y="3950208"/>
            <a:ext cx="310896" cy="31089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554480" y="3785616"/>
            <a:ext cx="4114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1E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 the route with traceroute</a:t>
            </a:r>
            <a:endParaRPr lang="en-US" sz="1550" dirty="0"/>
          </a:p>
        </p:txBody>
      </p:sp>
      <p:sp>
        <p:nvSpPr>
          <p:cNvPr id="18" name="Text 13"/>
          <p:cNvSpPr/>
          <p:nvPr/>
        </p:nvSpPr>
        <p:spPr>
          <a:xfrm>
            <a:off x="804672" y="4462272"/>
            <a:ext cx="483717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B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which network hop is adding delay before blaming the game itself.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6172200" y="3566160"/>
            <a:ext cx="5349240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1B1E3A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428232" y="3822192"/>
            <a:ext cx="566928" cy="566928"/>
          </a:xfrm>
          <a:prstGeom prst="ellipse">
            <a:avLst/>
          </a:prstGeom>
          <a:solidFill>
            <a:srgbClr val="1B1E3A"/>
          </a:solidFill>
          <a:ln/>
        </p:spPr>
      </p:sp>
      <p:pic>
        <p:nvPicPr>
          <p:cNvPr id="21" name="Image 3" descr="/home/claude/ppt/icon_securit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6248" y="3950208"/>
            <a:ext cx="310896" cy="31089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178040" y="3785616"/>
            <a:ext cx="4114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1E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 a gaming VPN only if needed</a:t>
            </a:r>
            <a:endParaRPr lang="en-US" sz="1550" dirty="0"/>
          </a:p>
        </p:txBody>
      </p:sp>
      <p:sp>
        <p:nvSpPr>
          <p:cNvPr id="23" name="Text 17"/>
          <p:cNvSpPr/>
          <p:nvPr/>
        </p:nvSpPr>
        <p:spPr>
          <a:xfrm>
            <a:off x="6428232" y="4462272"/>
            <a:ext cx="483717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B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well-routed VPN can sometimes bypass ISP congestion, but adds a hop — test before committing.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214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3931920"/>
            <a:ext cx="4754880" cy="4754880"/>
          </a:xfrm>
          <a:prstGeom prst="ellipse">
            <a:avLst/>
          </a:prstGeom>
          <a:solidFill>
            <a:srgbClr val="1B1E3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F2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9144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Quick Optimization Checklist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232759"/>
          </a:solidFill>
          <a:ln w="15875">
            <a:solidFill>
              <a:srgbClr val="05F2C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6916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5F2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51560" y="1645920"/>
            <a:ext cx="4892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E4E5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via Ethernet whenever possible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126480" y="1691640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232759"/>
          </a:solidFill>
          <a:ln w="15875">
            <a:solidFill>
              <a:srgbClr val="05F2C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126480" y="16916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5F2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629400" y="1645920"/>
            <a:ext cx="4892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E4E5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QoS and prioritize the gaming device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48640" y="2560320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232759"/>
          </a:solidFill>
          <a:ln w="15875">
            <a:solidFill>
              <a:srgbClr val="05F2C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5603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5F2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51560" y="2514600"/>
            <a:ext cx="4892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E4E5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the nearest available server region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126480" y="2560320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232759"/>
          </a:solidFill>
          <a:ln w="15875">
            <a:solidFill>
              <a:srgbClr val="05F2C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26480" y="25603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5F2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629400" y="2514600"/>
            <a:ext cx="4892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E4E5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router firmware and drivers up to date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548640" y="3429000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232759"/>
          </a:solidFill>
          <a:ln w="15875">
            <a:solidFill>
              <a:srgbClr val="05F2C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34290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5F2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51560" y="3383280"/>
            <a:ext cx="4892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E4E5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 other devices' bandwidth use during play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6126480" y="3429000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232759"/>
          </a:solidFill>
          <a:ln w="15875">
            <a:solidFill>
              <a:srgbClr val="05F2C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26480" y="34290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5F2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629400" y="3383280"/>
            <a:ext cx="4892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E4E5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with ping, jitter, and packet-loss tools regularly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548640" y="525780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i="1" dirty="0">
                <a:solidFill>
                  <a:srgbClr val="B9BB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well-tuned network turns raw hardware performance into consistent, responsive gameplay — the goal is a connection that behaves the same way every round.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548640" y="63550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7D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S. Karthikeyan  •  Reg. No: 192419048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2026-08-25T09:12:49Z</dcterms:created>
  <dcterms:modified xsi:type="dcterms:W3CDTF">2026-08-25T09:12:49Z</dcterms:modified>
</cp:coreProperties>
</file>